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62" r:id="rId5"/>
    <p:sldId id="263" r:id="rId6"/>
    <p:sldId id="264" r:id="rId7"/>
    <p:sldId id="259" r:id="rId8"/>
    <p:sldId id="260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jI3enDXpBmqw/C9wjxooD0g/+c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F12E44E-1114-8105-48B3-60248614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8DB69195-CFD0-8554-3C8A-67594AE414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23CA40FC-9807-49E7-0445-49F4CE8CD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148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5B8EDD8-7B77-2EEF-7E0E-91BA78475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647D6E82-7C22-2156-4367-47B4B4E365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C8B45BF2-759D-EA30-2DAD-568EA3F92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9464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5CFC41D4-2807-26E2-4950-62E5F7B0A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47A5B6FF-36DD-0ADB-E524-CD03EA078E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B9D4985-B379-08F0-A8DA-753E8CE74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1674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EF71694F-633A-689C-6513-32F749854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46323DDE-DADD-157C-1831-4668790806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121325F3-D4F2-452B-4288-F5792DE939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3829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EELANCER-KFH/fundamentos-ciberseguridad/tree/main/lab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hlinkClick r:id="rId3"/>
          </p:cNvPr>
          <p:cNvSpPr txBox="1">
            <a:spLocks noGrp="1"/>
          </p:cNvSpPr>
          <p:nvPr>
            <p:ph type="body" idx="1"/>
          </p:nvPr>
        </p:nvSpPr>
        <p:spPr>
          <a:xfrm>
            <a:off x="263236" y="2277035"/>
            <a:ext cx="11707091" cy="4484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s-DO" sz="2000" b="1" dirty="0"/>
              <a:t>Participante:</a:t>
            </a:r>
            <a:r>
              <a:rPr lang="es-DO" sz="2000" dirty="0"/>
              <a:t> Angel Luis Matos Vasquez</a:t>
            </a: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DO" sz="2000" b="1" dirty="0"/>
              <a:t>Técnico: </a:t>
            </a:r>
            <a:r>
              <a:rPr lang="es-DO" sz="2000" dirty="0"/>
              <a:t>Ciberseguridad</a:t>
            </a:r>
            <a:endParaRPr sz="2000" dirty="0"/>
          </a:p>
          <a:p>
            <a:pPr marL="0" lvl="0" indent="0">
              <a:buSzPts val="2800"/>
              <a:buNone/>
            </a:pPr>
            <a:r>
              <a:rPr lang="es-DO" sz="2000" b="1" dirty="0"/>
              <a:t>Módulo: </a:t>
            </a:r>
            <a:r>
              <a:rPr lang="es-DO" sz="2000" dirty="0"/>
              <a:t>Fundamentos de Ciberseguridad</a:t>
            </a:r>
            <a:endParaRPr sz="2000" dirty="0"/>
          </a:p>
          <a:p>
            <a:pPr marL="0" lvl="0" indent="0">
              <a:buSzPts val="2800"/>
              <a:buNone/>
            </a:pPr>
            <a:r>
              <a:rPr lang="es-DO" sz="2000" b="1" dirty="0"/>
              <a:t>Facilitador: </a:t>
            </a:r>
            <a:r>
              <a:rPr lang="es-DO" sz="2000" dirty="0"/>
              <a:t>Kevin Feliz Henríquez</a:t>
            </a:r>
            <a:r>
              <a:rPr lang="es-DO" sz="2000" b="1" dirty="0"/>
              <a:t> </a:t>
            </a: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DO" sz="2000" b="1" dirty="0"/>
              <a:t>Centro: </a:t>
            </a:r>
            <a:r>
              <a:rPr lang="es-DO" sz="2000" dirty="0" err="1"/>
              <a:t>Cyberclass</a:t>
            </a:r>
            <a:endParaRPr sz="2000" dirty="0"/>
          </a:p>
          <a:p>
            <a:pPr marL="0" lvl="0" indent="0">
              <a:buSzPts val="2800"/>
              <a:buNone/>
            </a:pPr>
            <a:r>
              <a:rPr lang="es-DO" sz="2000" b="1" dirty="0"/>
              <a:t>Práctica: </a:t>
            </a:r>
            <a:r>
              <a:rPr lang="es-ES" sz="2000" dirty="0"/>
              <a:t>Investigación: Escaneo de Red con NMAP</a:t>
            </a:r>
            <a:r>
              <a:rPr lang="es-DO" sz="2000" b="1" dirty="0"/>
              <a:t> </a:t>
            </a:r>
            <a:endParaRPr sz="2000" dirty="0"/>
          </a:p>
          <a:p>
            <a:pPr marL="0" lvl="0" indent="0">
              <a:buSzPts val="2800"/>
              <a:buNone/>
            </a:pPr>
            <a:r>
              <a:rPr lang="es-DO" sz="2000" b="1" dirty="0"/>
              <a:t>Descripción: </a:t>
            </a:r>
            <a:r>
              <a:rPr lang="es-ES" sz="2000" dirty="0"/>
              <a:t>Investigación teórica sobre los conceptos fundamentales del escaneo de redes utilizando NMAP, incluyendo técnicas de descubrimiento, análisis de puertos, detección de servicios y principios éticos en auditorías de ciberseguridad.</a:t>
            </a:r>
            <a:endParaRPr sz="2000" dirty="0"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4274" y="208165"/>
            <a:ext cx="3729373" cy="1575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5062" y="632629"/>
            <a:ext cx="4654700" cy="10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7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975650" y="2318600"/>
            <a:ext cx="9705600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DO" sz="1600" dirty="0"/>
              <a:t>Actividad #1: Definiciones</a:t>
            </a:r>
            <a:br>
              <a:rPr lang="es-DO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s-DO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AutoNum type="arabicPeriod"/>
            </a:pPr>
            <a:r>
              <a:rPr lang="es-ES" sz="1600" b="1" dirty="0"/>
              <a:t>Host Discovery:</a:t>
            </a:r>
            <a:r>
              <a:rPr lang="es-ES" sz="1600" dirty="0"/>
              <a:t> Proceso de identificar qué dispositivos están activos y conectados dentro de una red, mediante técnicas como ping, ARP o escaneos ICMP.</a:t>
            </a:r>
          </a:p>
          <a:p>
            <a:pPr marL="342900" lvl="0" indent="-342900">
              <a:buAutoNum type="arabicPeriod"/>
            </a:pPr>
            <a:r>
              <a:rPr lang="es-ES" sz="1600" b="1" dirty="0"/>
              <a:t>Port </a:t>
            </a:r>
            <a:r>
              <a:rPr lang="es-ES" sz="1600" b="1" dirty="0" err="1"/>
              <a:t>Scanning</a:t>
            </a:r>
            <a:r>
              <a:rPr lang="es-ES" sz="1600" b="1" dirty="0"/>
              <a:t>:</a:t>
            </a:r>
            <a:r>
              <a:rPr lang="es-ES" sz="1600" dirty="0"/>
              <a:t> Técnica que permite identificar qué puertos de un host están abiertos, cerrados o filtrados, determinando así qué servicios están disponibles.</a:t>
            </a:r>
          </a:p>
          <a:p>
            <a:pPr marL="342900" lvl="0" indent="-342900">
              <a:buAutoNum type="arabicPeriod"/>
            </a:pPr>
            <a:r>
              <a:rPr lang="es-ES" sz="1600" b="1" dirty="0"/>
              <a:t>TCP </a:t>
            </a:r>
            <a:r>
              <a:rPr lang="es-ES" sz="1600" b="1" dirty="0" err="1"/>
              <a:t>Scan</a:t>
            </a:r>
            <a:r>
              <a:rPr lang="es-ES" sz="1600" b="1" dirty="0"/>
              <a:t>:</a:t>
            </a:r>
            <a:r>
              <a:rPr lang="es-ES" sz="1600" dirty="0"/>
              <a:t> Método de escaneo que establece una conexión TCP completa (</a:t>
            </a:r>
            <a:r>
              <a:rPr lang="es-ES" sz="1600" dirty="0" err="1"/>
              <a:t>three-way</a:t>
            </a:r>
            <a:r>
              <a:rPr lang="es-ES" sz="1600" dirty="0"/>
              <a:t> </a:t>
            </a:r>
            <a:r>
              <a:rPr lang="es-ES" sz="1600" dirty="0" err="1"/>
              <a:t>handshake</a:t>
            </a:r>
            <a:r>
              <a:rPr lang="es-ES" sz="1600" dirty="0"/>
              <a:t>) con el puerto objetivo para verificar si está abierto.</a:t>
            </a:r>
          </a:p>
          <a:p>
            <a:pPr marL="342900" lvl="0" indent="-342900">
              <a:buAutoNum type="arabicPeriod"/>
            </a:pPr>
            <a:r>
              <a:rPr lang="es-DO" sz="1600" b="1" dirty="0"/>
              <a:t>UDP </a:t>
            </a:r>
            <a:r>
              <a:rPr lang="es-DO" sz="1600" b="1" dirty="0" err="1"/>
              <a:t>Scan</a:t>
            </a:r>
            <a:r>
              <a:rPr lang="es-DO" sz="1600" b="1" dirty="0"/>
              <a:t>:</a:t>
            </a:r>
            <a:r>
              <a:rPr lang="es-DO" sz="1600" dirty="0"/>
              <a:t> Técnica de escaneo sobre el protocolo UDP para identificar servicios que no usan TCP, como DNS (53) o DHCP (67).</a:t>
            </a:r>
          </a:p>
          <a:p>
            <a:pPr marL="342900" lvl="0" indent="-342900">
              <a:buAutoNum type="arabicPeriod"/>
            </a:pPr>
            <a:r>
              <a:rPr lang="es-ES" sz="1600" b="1" dirty="0" err="1"/>
              <a:t>Service</a:t>
            </a:r>
            <a:r>
              <a:rPr lang="es-ES" sz="1600" b="1" dirty="0"/>
              <a:t> </a:t>
            </a:r>
            <a:r>
              <a:rPr lang="es-ES" sz="1600" b="1" dirty="0" err="1"/>
              <a:t>Enumeration</a:t>
            </a:r>
            <a:r>
              <a:rPr lang="es-ES" sz="1600" b="1" dirty="0"/>
              <a:t>:</a:t>
            </a:r>
            <a:r>
              <a:rPr lang="es-ES" sz="1600" dirty="0"/>
              <a:t> Proceso de identificar los servicios específicos y sus versiones que están corriendo en los puertos abiertos de un host.</a:t>
            </a:r>
          </a:p>
          <a:p>
            <a:pPr marL="342900" lvl="0" indent="-342900">
              <a:buAutoNum type="arabicPeriod"/>
            </a:pPr>
            <a:r>
              <a:rPr lang="es-DO" sz="1600" b="1" dirty="0" err="1"/>
              <a:t>Fingerprinting</a:t>
            </a:r>
            <a:r>
              <a:rPr lang="es-DO" sz="1600" b="1" dirty="0"/>
              <a:t>:</a:t>
            </a:r>
            <a:r>
              <a:rPr lang="es-DO" sz="1600" dirty="0"/>
              <a:t> Técnica para identificar características únicas de un sistema, como el sistema operativo, versiones de software o configuraciones específicas.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00BB7044-2144-2C4E-4614-F5F24B62B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8CF32E3A-6E13-E280-1F90-E9C9126789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7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5E151ED7-9C6A-F532-E083-1BBDFE24B643}"/>
              </a:ext>
            </a:extLst>
          </p:cNvPr>
          <p:cNvSpPr txBox="1"/>
          <p:nvPr/>
        </p:nvSpPr>
        <p:spPr>
          <a:xfrm>
            <a:off x="975650" y="2318600"/>
            <a:ext cx="9705600" cy="329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DO" sz="1600" dirty="0"/>
              <a:t>Actividad #1: Definiciones</a:t>
            </a:r>
          </a:p>
          <a:p>
            <a:pPr lvl="0"/>
            <a:endParaRPr lang="es-DO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D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lang="es-ES" sz="1600" b="1" dirty="0" err="1"/>
              <a:t>Operating</a:t>
            </a:r>
            <a:r>
              <a:rPr lang="es-ES" sz="1600" b="1" dirty="0"/>
              <a:t> </a:t>
            </a:r>
            <a:r>
              <a:rPr lang="es-ES" sz="1600" b="1" dirty="0" err="1"/>
              <a:t>System</a:t>
            </a:r>
            <a:r>
              <a:rPr lang="es-ES" sz="1600" b="1" dirty="0"/>
              <a:t> </a:t>
            </a:r>
            <a:r>
              <a:rPr lang="es-ES" sz="1600" b="1" dirty="0" err="1"/>
              <a:t>Detection</a:t>
            </a:r>
            <a:r>
              <a:rPr lang="es-ES" sz="1600" b="1" dirty="0"/>
              <a:t>:</a:t>
            </a:r>
            <a:r>
              <a:rPr lang="es-ES" sz="1600" dirty="0"/>
              <a:t> Capacidad de NMAP para identificar el sistema operativo de un host remoto analizando las respuestas a paquetes de red.</a:t>
            </a:r>
          </a:p>
          <a:p>
            <a:pPr lvl="0"/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</a:t>
            </a:r>
            <a:r>
              <a:rPr lang="es-ES" sz="1600" b="1" dirty="0"/>
              <a:t>NSE (</a:t>
            </a:r>
            <a:r>
              <a:rPr lang="es-ES" sz="1600" b="1" dirty="0" err="1"/>
              <a:t>Nmap</a:t>
            </a:r>
            <a:r>
              <a:rPr lang="es-ES" sz="1600" b="1" dirty="0"/>
              <a:t> Scripting </a:t>
            </a:r>
            <a:r>
              <a:rPr lang="es-ES" sz="1600" b="1" dirty="0" err="1"/>
              <a:t>Engine</a:t>
            </a:r>
            <a:r>
              <a:rPr lang="es-ES" sz="1600" b="1" dirty="0"/>
              <a:t>):</a:t>
            </a:r>
            <a:r>
              <a:rPr lang="es-ES" sz="1600" dirty="0"/>
              <a:t> Motor de scripts integrado en NMAP que permite automatizar tareas avanzadas como detección de vulnerabilidades, fuerza bruta y auditorías.</a:t>
            </a:r>
          </a:p>
          <a:p>
            <a:pPr lvl="0"/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</a:t>
            </a:r>
            <a:r>
              <a:rPr lang="es-ES" sz="1600" b="1" dirty="0" err="1"/>
              <a:t>Vulnerability</a:t>
            </a:r>
            <a:r>
              <a:rPr lang="es-ES" sz="1600" b="1" dirty="0"/>
              <a:t> </a:t>
            </a:r>
            <a:r>
              <a:rPr lang="es-ES" sz="1600" b="1" dirty="0" err="1"/>
              <a:t>Assessment</a:t>
            </a:r>
            <a:r>
              <a:rPr lang="es-ES" sz="1600" b="1" dirty="0"/>
              <a:t>:</a:t>
            </a:r>
            <a:r>
              <a:rPr lang="es-ES" sz="1600" dirty="0"/>
              <a:t> Proceso sistemático de identificar, clasificar y priorizar vulnerabilidades de seguridad en sistemas y redes.</a:t>
            </a:r>
          </a:p>
          <a:p>
            <a:pPr lvl="0"/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</a:t>
            </a:r>
            <a:r>
              <a:rPr lang="es-ES" sz="1600" b="1" dirty="0"/>
              <a:t>Network </a:t>
            </a:r>
            <a:r>
              <a:rPr lang="es-ES" sz="1600" b="1" dirty="0" err="1"/>
              <a:t>Reconnaissance</a:t>
            </a:r>
            <a:r>
              <a:rPr lang="es-ES" sz="1600" b="1" dirty="0"/>
              <a:t>:</a:t>
            </a:r>
            <a:r>
              <a:rPr lang="es-ES" sz="1600" dirty="0"/>
              <a:t> Fase inicial de una auditoría donde se recopila información sobre la red objetivo, incluyendo hosts, puertos, servicios y topología.</a:t>
            </a:r>
            <a:br>
              <a:rPr lang="es-DO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s-DO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5614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939B9394-3BDB-215E-3D0C-F7906F68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7BCACE7E-618F-8B3D-45E4-5A5E084A6A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1338"/>
            <a:ext cx="10515600" cy="97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56575475-5EA3-36E9-F5FF-E0BC6DF7DE68}"/>
              </a:ext>
            </a:extLst>
          </p:cNvPr>
          <p:cNvSpPr txBox="1"/>
          <p:nvPr/>
        </p:nvSpPr>
        <p:spPr>
          <a:xfrm>
            <a:off x="1023776" y="2321035"/>
            <a:ext cx="9705600" cy="480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DO" sz="1600" dirty="0"/>
              <a:t>Actividad #2: Respuestas</a:t>
            </a:r>
          </a:p>
          <a:p>
            <a:pPr lvl="0"/>
            <a:endParaRPr lang="es-DO" sz="1600" dirty="0"/>
          </a:p>
          <a:p>
            <a:pPr marL="342900" lvl="0" indent="-342900">
              <a:buAutoNum type="arabicPeriod"/>
            </a:pPr>
            <a:r>
              <a:rPr lang="es-ES" sz="1600" b="1" dirty="0"/>
              <a:t>¿Cuál es la diferencia entre un puerto abierto y un puerto filtrado?</a:t>
            </a:r>
            <a:br>
              <a:rPr lang="es-ES" sz="1600" dirty="0"/>
            </a:br>
            <a:r>
              <a:rPr lang="es-ES" sz="1600" dirty="0"/>
              <a:t>Un puerto </a:t>
            </a:r>
            <a:r>
              <a:rPr lang="es-ES" sz="1600" b="1" dirty="0"/>
              <a:t>abierto</a:t>
            </a:r>
            <a:r>
              <a:rPr lang="es-ES" sz="1600" dirty="0"/>
              <a:t> acepta conexiones activamente porque un servicio está escuchando en él. Un puerto </a:t>
            </a:r>
            <a:r>
              <a:rPr lang="es-ES" sz="1600" b="1" dirty="0"/>
              <a:t>filtrado</a:t>
            </a:r>
            <a:r>
              <a:rPr lang="es-ES" sz="1600" dirty="0"/>
              <a:t> tiene un firewall o filtro bloqueando el acceso, por lo que NMAP no puede determinar si está abierto o cerrado.</a:t>
            </a:r>
          </a:p>
          <a:p>
            <a:pPr marL="342900" lvl="0" indent="-342900">
              <a:buAutoNum type="arabicPeriod"/>
            </a:pPr>
            <a:r>
              <a:rPr lang="es-ES" sz="1600" b="1" dirty="0"/>
              <a:t>¿Por qué es importante identificar versiones de servicios?</a:t>
            </a:r>
            <a:br>
              <a:rPr lang="es-ES" sz="1600" dirty="0"/>
            </a:br>
            <a:r>
              <a:rPr lang="es-ES" sz="1600" dirty="0"/>
              <a:t>Porque cada versión puede tener vulnerabilidades específicas conocidas. Conocer la versión exacta permite aplicar parches correctos y evaluar el riesgo real del servicio expuesto.</a:t>
            </a:r>
          </a:p>
          <a:p>
            <a:pPr marL="342900" lvl="0" indent="-342900">
              <a:buAutoNum type="arabicPeriod"/>
            </a:pPr>
            <a:r>
              <a:rPr lang="es-ES" sz="1600" b="1" dirty="0"/>
              <a:t>¿Qué ventajas ofrece el escaneo SYN frente al escaneo TCP </a:t>
            </a:r>
            <a:r>
              <a:rPr lang="es-ES" sz="1600" b="1" dirty="0" err="1"/>
              <a:t>Connect</a:t>
            </a:r>
            <a:r>
              <a:rPr lang="es-ES" sz="1600" b="1" dirty="0"/>
              <a:t>?</a:t>
            </a:r>
            <a:br>
              <a:rPr lang="es-ES" sz="1600" dirty="0"/>
            </a:br>
            <a:r>
              <a:rPr lang="es-ES" sz="1600" dirty="0"/>
              <a:t>El escaneo SYN es más rápido y sigiloso porque no completa la conexión TCP, dejando menos rastros en los logs del sistema objetivo. El TCP </a:t>
            </a:r>
            <a:r>
              <a:rPr lang="es-ES" sz="1600" dirty="0" err="1"/>
              <a:t>Connect</a:t>
            </a:r>
            <a:r>
              <a:rPr lang="es-ES" sz="1600" dirty="0"/>
              <a:t> completa la conexión y es más detectable.</a:t>
            </a:r>
          </a:p>
          <a:p>
            <a:pPr marL="342900" lvl="0" indent="-342900">
              <a:buAutoNum type="arabicPeriod"/>
            </a:pPr>
            <a:r>
              <a:rPr lang="es-ES" sz="1600" b="1" dirty="0"/>
              <a:t>¿Cuál es la función del motor NSE?</a:t>
            </a:r>
            <a:br>
              <a:rPr lang="es-ES" sz="1600" dirty="0"/>
            </a:br>
            <a:r>
              <a:rPr lang="es-ES" sz="1600" dirty="0"/>
              <a:t>Permite extender las capacidades de NMAP mediante scripts especializados para detectar vulnerabilidades, enumerar servicios, realizar ataques de fuerza bruta y automatizar auditorías de seguridad.</a:t>
            </a:r>
            <a:endParaRPr lang="es-DO" sz="1600" dirty="0"/>
          </a:p>
          <a:p>
            <a:pPr lvl="0"/>
            <a:endParaRPr lang="es-DO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170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3171D8B-5DB9-95F9-2C38-3E9DB66F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3608BD20-8FE2-DC54-57BD-F1368599BE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7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13C2741B-E0E4-E691-25F0-8FEE6B65A0B8}"/>
              </a:ext>
            </a:extLst>
          </p:cNvPr>
          <p:cNvSpPr txBox="1"/>
          <p:nvPr/>
        </p:nvSpPr>
        <p:spPr>
          <a:xfrm>
            <a:off x="1023776" y="2321035"/>
            <a:ext cx="9705600" cy="455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DO" sz="1600" dirty="0"/>
              <a:t>Actividad #2: Respuestas</a:t>
            </a:r>
          </a:p>
          <a:p>
            <a:pPr lvl="0"/>
            <a:endParaRPr lang="es-DO" sz="1600" dirty="0"/>
          </a:p>
          <a:p>
            <a:pPr lvl="0"/>
            <a:r>
              <a:rPr lang="es-DO" sz="1600" dirty="0"/>
              <a:t>5. </a:t>
            </a:r>
            <a:r>
              <a:rPr lang="es-ES" sz="1600" b="1" dirty="0"/>
              <a:t>¿Qué información puede obtenerse mediante la detección de sistemas operativos?</a:t>
            </a:r>
            <a:br>
              <a:rPr lang="es-ES" sz="1600" dirty="0"/>
            </a:br>
            <a:r>
              <a:rPr lang="es-ES" sz="1600" dirty="0"/>
              <a:t>Se puede identificar el sistema operativo, su versión, arquitectura y características de red, lo que permite evaluar vulnerabilidades específicas de esa plataforma.</a:t>
            </a:r>
          </a:p>
          <a:p>
            <a:pPr lvl="0"/>
            <a:r>
              <a:rPr lang="es-ES" sz="1600" dirty="0"/>
              <a:t>6. </a:t>
            </a:r>
            <a:r>
              <a:rPr lang="es-ES" sz="1600" b="1" dirty="0"/>
              <a:t>¿Por qué deben documentarse los resultados de una auditoría?</a:t>
            </a:r>
            <a:br>
              <a:rPr lang="es-ES" sz="1600" dirty="0"/>
            </a:br>
            <a:r>
              <a:rPr lang="es-ES" sz="1600" dirty="0"/>
              <a:t>Para tener evidencia formal de las vulnerabilidades encontradas, facilitar su corrección, cumplir con normativas de seguridad y mantener un historial de cambios en la postura de seguridad de la organización.</a:t>
            </a:r>
          </a:p>
          <a:p>
            <a:pPr lvl="0"/>
            <a:r>
              <a:rPr lang="es-ES" sz="1600" dirty="0"/>
              <a:t>7. </a:t>
            </a:r>
            <a:r>
              <a:rPr lang="es-ES" sz="1600" b="1" dirty="0"/>
              <a:t>¿Qué riesgos implica exponer servicios innecesarios en una red?</a:t>
            </a:r>
            <a:br>
              <a:rPr lang="es-ES" sz="1600" dirty="0"/>
            </a:br>
            <a:r>
              <a:rPr lang="es-ES" sz="1600" dirty="0"/>
              <a:t>Aumenta la superficie de ataque, permitiendo a atacantes explotar vulnerabilidades en servicios que no son necesarios, como ocurrió con SMBv1 en el ataque WannaCry.</a:t>
            </a:r>
          </a:p>
          <a:p>
            <a:pPr lvl="0"/>
            <a:endParaRPr lang="es-ES" sz="1600" dirty="0"/>
          </a:p>
          <a:p>
            <a:pPr lvl="0"/>
            <a:endParaRPr lang="es-DO" sz="1600" dirty="0"/>
          </a:p>
          <a:p>
            <a:pPr lvl="0"/>
            <a:endParaRPr lang="es-DO" sz="1600" dirty="0"/>
          </a:p>
          <a:p>
            <a:pPr lvl="0"/>
            <a:endParaRPr lang="es-DO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281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6A357EF2-3960-E7AC-1B37-7B853901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05EFD125-722C-E174-CE69-4633ADAC3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7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dirty="0"/>
              <a:t>Desarrollo de la investigación/laboratorio</a:t>
            </a:r>
            <a:endParaRPr sz="2000" dirty="0"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0AF31996-0D65-764B-4580-21DAE191ED1D}"/>
              </a:ext>
            </a:extLst>
          </p:cNvPr>
          <p:cNvSpPr txBox="1"/>
          <p:nvPr/>
        </p:nvSpPr>
        <p:spPr>
          <a:xfrm>
            <a:off x="1023776" y="2321035"/>
            <a:ext cx="9705600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DO" sz="1600" dirty="0"/>
              <a:t>Actividad #2: Respuestas</a:t>
            </a:r>
          </a:p>
          <a:p>
            <a:pPr lvl="0"/>
            <a:endParaRPr lang="es-DO" sz="1600" dirty="0"/>
          </a:p>
          <a:p>
            <a:pPr lvl="0"/>
            <a:r>
              <a:rPr lang="es-DO" sz="1600" dirty="0"/>
              <a:t>8. </a:t>
            </a:r>
            <a:r>
              <a:rPr lang="es-ES" sz="1600" b="1" dirty="0"/>
              <a:t>¿Cuál es la diferencia entre descubrimiento y enumeración?</a:t>
            </a:r>
            <a:br>
              <a:rPr lang="es-ES" sz="1600" dirty="0"/>
            </a:br>
            <a:r>
              <a:rPr lang="es-ES" sz="1600" dirty="0"/>
              <a:t>El </a:t>
            </a:r>
            <a:r>
              <a:rPr lang="es-ES" sz="1600" b="1" dirty="0"/>
              <a:t>descubrimiento</a:t>
            </a:r>
            <a:r>
              <a:rPr lang="es-ES" sz="1600" dirty="0"/>
              <a:t> identifica qué hosts están activos en la red. La </a:t>
            </a:r>
            <a:r>
              <a:rPr lang="es-ES" sz="1600" b="1" dirty="0"/>
              <a:t>enumeración</a:t>
            </a:r>
            <a:r>
              <a:rPr lang="es-ES" sz="1600" dirty="0"/>
              <a:t> va más profundo, identificando servicios, versiones, usuarios y recursos disponibles en esos hosts.</a:t>
            </a:r>
          </a:p>
          <a:p>
            <a:pPr lvl="0"/>
            <a:r>
              <a:rPr lang="es-ES" sz="1600" dirty="0"/>
              <a:t>9. </a:t>
            </a:r>
            <a:r>
              <a:rPr lang="es-ES" sz="1600" b="1" dirty="0"/>
              <a:t>¿Qué es el </a:t>
            </a:r>
            <a:r>
              <a:rPr lang="es-ES" sz="1600" b="1" dirty="0" err="1"/>
              <a:t>fingerprinting</a:t>
            </a:r>
            <a:r>
              <a:rPr lang="es-ES" sz="1600" b="1" dirty="0"/>
              <a:t> de sistemas?</a:t>
            </a:r>
            <a:br>
              <a:rPr lang="es-ES" sz="1600" dirty="0"/>
            </a:br>
            <a:r>
              <a:rPr lang="es-ES" sz="1600" dirty="0"/>
              <a:t>Es la técnica de recopilar información característica de un sistema (OS, versiones, configuraciones) analizando sus respuestas a paquetes de red, sin necesidad de acceder directamente al sistema.</a:t>
            </a:r>
          </a:p>
          <a:p>
            <a:r>
              <a:rPr lang="es-ES" sz="1600" dirty="0"/>
              <a:t>10. </a:t>
            </a:r>
            <a:r>
              <a:rPr lang="es-ES" sz="1600" b="1" dirty="0"/>
              <a:t>¿Qué principios éticos deben respetarse al utilizar </a:t>
            </a:r>
            <a:r>
              <a:rPr lang="es-ES" sz="1600" b="1" dirty="0" err="1"/>
              <a:t>Nmap</a:t>
            </a:r>
            <a:r>
              <a:rPr lang="es-ES" sz="1600" b="1" dirty="0"/>
              <a:t>?</a:t>
            </a:r>
            <a:br>
              <a:rPr lang="es-ES" sz="1600" dirty="0"/>
            </a:br>
            <a:r>
              <a:rPr lang="es-ES" sz="1600" dirty="0"/>
              <a:t>Solo debe usarse en redes propias o con autorización explícita del propietario. Escanear redes ajenas sin permiso es ilegal. Los resultados deben manejarse con confidencialidad y usarse únicamente para mejorar la seguridad.</a:t>
            </a:r>
          </a:p>
          <a:p>
            <a:pPr lvl="0"/>
            <a:endParaRPr lang="es-DO" sz="1600" dirty="0"/>
          </a:p>
          <a:p>
            <a:pPr lvl="0"/>
            <a:endParaRPr lang="es-DO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1753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b="1" dirty="0"/>
              <a:t>Medidas a tomar para evitar la vulnerabilidad</a:t>
            </a:r>
            <a:endParaRPr sz="2000" b="1" dirty="0"/>
          </a:p>
        </p:txBody>
      </p:sp>
      <p:sp>
        <p:nvSpPr>
          <p:cNvPr id="104" name="Google Shape;104;p3"/>
          <p:cNvSpPr txBox="1">
            <a:spLocks noGrp="1"/>
          </p:cNvSpPr>
          <p:nvPr>
            <p:ph type="body" idx="1"/>
          </p:nvPr>
        </p:nvSpPr>
        <p:spPr>
          <a:xfrm>
            <a:off x="838200" y="2438400"/>
            <a:ext cx="10515600" cy="3738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spcBef>
                <a:spcPts val="0"/>
              </a:spcBef>
              <a:buSzPts val="2800"/>
              <a:buFont typeface="Calibri"/>
              <a:buAutoNum type="arabicPeriod"/>
            </a:pPr>
            <a:r>
              <a:rPr lang="es-ES" sz="1600" dirty="0"/>
              <a:t>Realizar auditorías periódicas con NMAP para identificar puertos abiertos innecesarios y servicios expuestos que puedan representar un riesgo de seguridad en la red.</a:t>
            </a:r>
          </a:p>
          <a:p>
            <a:pPr marL="514350" lvl="0" indent="-514350">
              <a:spcBef>
                <a:spcPts val="0"/>
              </a:spcBef>
              <a:buSzPts val="2800"/>
              <a:buFont typeface="Calibri"/>
              <a:buAutoNum type="arabicPeriod"/>
            </a:pPr>
            <a:r>
              <a:rPr lang="es-ES" sz="1600" dirty="0"/>
              <a:t>Mantener todos los servicios y sistemas operativos actualizados para eliminar vulnerabilidades conocidas que pueden ser detectadas mediante herramientas como NMAP con el script </a:t>
            </a:r>
            <a:r>
              <a:rPr lang="es-ES" dirty="0"/>
              <a:t>--</a:t>
            </a:r>
            <a:r>
              <a:rPr lang="es-ES" sz="1600" dirty="0"/>
              <a:t>script </a:t>
            </a:r>
            <a:r>
              <a:rPr lang="es-ES" sz="1600" dirty="0" err="1"/>
              <a:t>vuln</a:t>
            </a:r>
            <a:r>
              <a:rPr lang="es-ES" sz="1600" dirty="0"/>
              <a:t>.</a:t>
            </a:r>
          </a:p>
          <a:p>
            <a:pPr marL="514350" lvl="0" indent="-514350">
              <a:spcBef>
                <a:spcPts val="0"/>
              </a:spcBef>
              <a:buSzPts val="2800"/>
              <a:buFont typeface="Calibri"/>
              <a:buAutoNum type="arabicPeriod"/>
            </a:pPr>
            <a:r>
              <a:rPr lang="es-ES" sz="1600" dirty="0"/>
              <a:t>Implementar firewalls correctamente configurados para filtrar puertos innecesarios, reduciendo la superficie de ataque visible desde el exterior de la red.</a:t>
            </a:r>
          </a:p>
          <a:p>
            <a:pPr marL="514350" lvl="0" indent="-514350">
              <a:spcBef>
                <a:spcPts val="0"/>
              </a:spcBef>
              <a:buSzPts val="2800"/>
              <a:buFont typeface="Calibri"/>
              <a:buAutoNum type="arabicPeriod"/>
            </a:pPr>
            <a:r>
              <a:rPr lang="es-ES" sz="1600" dirty="0"/>
              <a:t>Deshabilitar servicios innecesarios como SMBv1, Telnet y FTP que representan vectores de ataque conocidos y no deben estar expuestos en redes modernas.</a:t>
            </a:r>
          </a:p>
          <a:p>
            <a:pPr marL="514350" lvl="0" indent="-514350">
              <a:spcBef>
                <a:spcPts val="0"/>
              </a:spcBef>
              <a:buSzPts val="2800"/>
              <a:buFont typeface="Calibri"/>
              <a:buAutoNum type="arabicPeriod"/>
            </a:pPr>
            <a:r>
              <a:rPr lang="es-ES" sz="1600" dirty="0"/>
              <a:t>Establecer políticas de uso ético de herramientas de escaneo de redes, asegurando que solo personal autorizado realice auditorías y que los resultados sean tratados con confidencialidad.</a:t>
            </a:r>
            <a:endParaRPr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DO" sz="2000" b="1" dirty="0"/>
              <a:t>Resumen de lo aprendido</a:t>
            </a:r>
            <a:endParaRPr sz="2000" b="1" dirty="0"/>
          </a:p>
        </p:txBody>
      </p:sp>
      <p:sp>
        <p:nvSpPr>
          <p:cNvPr id="110" name="Google Shape;110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DO" sz="2000" dirty="0"/>
              <a:t>En esta practica, aprendí a realizar lo siguiente:</a:t>
            </a:r>
            <a:endParaRPr sz="2000" dirty="0"/>
          </a:p>
          <a:p>
            <a:pPr marL="342900" lvl="0">
              <a:buSzPts val="2800"/>
              <a:buAutoNum type="arabicPeriod"/>
            </a:pPr>
            <a:r>
              <a:rPr lang="es-ES" sz="1600" dirty="0"/>
              <a:t>Comprender los conceptos fundamentales del escaneo de redes con NMAP, incluyendo Host Discovery, Port </a:t>
            </a:r>
            <a:r>
              <a:rPr lang="es-ES" sz="1600" dirty="0" err="1"/>
              <a:t>Scanning</a:t>
            </a:r>
            <a:r>
              <a:rPr lang="es-ES" sz="1600" dirty="0"/>
              <a:t>, TCP/UDP </a:t>
            </a:r>
            <a:r>
              <a:rPr lang="es-ES" sz="1600" dirty="0" err="1"/>
              <a:t>Scan</a:t>
            </a:r>
            <a:r>
              <a:rPr lang="es-ES" sz="1600" dirty="0"/>
              <a:t> y </a:t>
            </a:r>
            <a:r>
              <a:rPr lang="es-ES" sz="1600" dirty="0" err="1"/>
              <a:t>Service</a:t>
            </a:r>
            <a:r>
              <a:rPr lang="es-ES" sz="1600" dirty="0"/>
              <a:t> </a:t>
            </a:r>
            <a:r>
              <a:rPr lang="es-ES" sz="1600" dirty="0" err="1"/>
              <a:t>Enumeration</a:t>
            </a:r>
            <a:r>
              <a:rPr lang="es-ES" sz="1600" dirty="0"/>
              <a:t>, base esencial para cualquier auditoría de ciberseguridad.</a:t>
            </a:r>
          </a:p>
          <a:p>
            <a:pPr marL="342900" lvl="0">
              <a:buSzPts val="2800"/>
              <a:buAutoNum type="arabicPeriod"/>
            </a:pPr>
            <a:r>
              <a:rPr lang="es-ES" sz="1600" dirty="0"/>
              <a:t>Distinguir entre técnicas de escaneo como SYN y TCP </a:t>
            </a:r>
            <a:r>
              <a:rPr lang="es-ES" sz="1600" dirty="0" err="1"/>
              <a:t>Connect</a:t>
            </a:r>
            <a:r>
              <a:rPr lang="es-ES" sz="1600" dirty="0"/>
              <a:t>, entendiendo sus diferencias en velocidad, sigilo y detección, para elegir la más adecuada según el contexto de la auditoría.</a:t>
            </a:r>
          </a:p>
          <a:p>
            <a:pPr marL="342900" lvl="0">
              <a:buSzPts val="2800"/>
              <a:buAutoNum type="arabicPeriod"/>
            </a:pPr>
            <a:r>
              <a:rPr lang="es-ES" sz="1600" dirty="0"/>
              <a:t>Entender el funcionamiento del motor NSE (</a:t>
            </a:r>
            <a:r>
              <a:rPr lang="es-ES" sz="1600" dirty="0" err="1"/>
              <a:t>Nmap</a:t>
            </a:r>
            <a:r>
              <a:rPr lang="es-ES" sz="1600" dirty="0"/>
              <a:t> Scripting </a:t>
            </a:r>
            <a:r>
              <a:rPr lang="es-ES" sz="1600" dirty="0" err="1"/>
              <a:t>Engine</a:t>
            </a:r>
            <a:r>
              <a:rPr lang="es-ES" sz="1600" dirty="0"/>
              <a:t>) y su capacidad para detectar vulnerabilidades conocidas, enumerar servicios y automatizar tareas avanzadas de seguridad.</a:t>
            </a:r>
          </a:p>
          <a:p>
            <a:pPr marL="342900" lvl="0">
              <a:buSzPts val="2800"/>
              <a:buAutoNum type="arabicPeriod"/>
            </a:pPr>
            <a:r>
              <a:rPr lang="es-ES" sz="1600" dirty="0"/>
              <a:t>Reconocer la importancia de los principios éticos en el uso de herramientas de escaneo de redes, aplicando buenas prácticas de documentación y autorización en toda auditoría de seguridad.</a:t>
            </a: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1093</Words>
  <Application>Microsoft Office PowerPoint</Application>
  <PresentationFormat>Panorámica</PresentationFormat>
  <Paragraphs>57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Tema de Office</vt:lpstr>
      <vt:lpstr>Presentación de PowerPoint</vt:lpstr>
      <vt:lpstr>Desarrollo de la investigación/laboratorio</vt:lpstr>
      <vt:lpstr>Desarrollo de la investigación/laboratorio</vt:lpstr>
      <vt:lpstr>Desarrollo de la investigación/laboratorio</vt:lpstr>
      <vt:lpstr>Desarrollo de la investigación/laboratorio</vt:lpstr>
      <vt:lpstr>Desarrollo de la investigación/laboratorio</vt:lpstr>
      <vt:lpstr>Medidas a tomar para evitar la vulnerabilidad</vt:lpstr>
      <vt:lpstr>Resumen de lo aprendido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Angel Luis Matos Vasquez</cp:lastModifiedBy>
  <cp:revision>1</cp:revision>
  <dcterms:created xsi:type="dcterms:W3CDTF">2026-03-31T00:35:05Z</dcterms:created>
  <dcterms:modified xsi:type="dcterms:W3CDTF">2026-06-23T01:50:02Z</dcterms:modified>
</cp:coreProperties>
</file>